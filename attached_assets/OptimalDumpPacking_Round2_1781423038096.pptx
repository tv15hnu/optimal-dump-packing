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04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4480560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CD11"/>
                </a:solidFill>
              </a:rPr>
              <a:t>CATERPILLAR HACKATHON  ·  ROUND 2  ·  EVALUATION PRESENTATION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Optimal Dump Packing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47472" y="14173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BBBBB"/>
                </a:solidFill>
              </a:rPr>
              <a:t>Adaptive Polygon Spot-Point Packing for Autonomous Mine Haul Trucks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" y="1901952"/>
            <a:ext cx="3200400" cy="36576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2011680"/>
            <a:ext cx="2743200" cy="566928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0116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</a:rPr>
              <a:t>01  Functionality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011680"/>
            <a:ext cx="2743200" cy="566928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0116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02  Design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53328" y="2011680"/>
            <a:ext cx="2743200" cy="566928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20116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03  Technical &amp; Mfg Feasibility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670048"/>
            <a:ext cx="2743200" cy="566928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6700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04  Innovation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670048"/>
            <a:ext cx="2743200" cy="566928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6700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05  Usability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53328" y="2670048"/>
            <a:ext cx="2743200" cy="566928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26700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06  Evaluation Scorecard</a:t>
            </a:r>
          </a:p>
        </p:txBody>
      </p:sp>
      <p:sp>
        <p:nvSpPr>
          <p:cNvPr id="20" name="Text 18"/>
          <p:cNvSpPr/>
          <p:nvPr/>
        </p:nvSpPr>
        <p:spPr>
          <a:xfrm>
            <a:off x="347472" y="37307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55555"/>
                </a:solidFill>
              </a:rPr>
              <a:t>"The density gap is not a truck problem. It is a planning problem. We solve the planning."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1168" y="4480560"/>
            <a:ext cx="8741664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</a:rPr>
              <a:t>Closing the 7.38m → 3.03m Autonomous Density Gap  ·  Phase 1: Pure Software, Zero Hardware Changes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486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CD11"/>
                </a:solidFill>
              </a:rPr>
              <a:t>01  FUNCTIONALITY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402336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the System Does — End to End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2788920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05840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FFFF"/>
                </a:solidFill>
              </a:rPr>
              <a:t>INPUT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1353312"/>
            <a:ext cx="278892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63040"/>
            <a:ext cx="109728" cy="109728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408176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Dump polygon boundary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(GPS-referenced vertices)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249424"/>
            <a:ext cx="278892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359152"/>
            <a:ext cx="109728" cy="109728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304288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Truck model specification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(turning radius, body width)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3145536"/>
            <a:ext cx="278892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3255264"/>
            <a:ext cx="109728" cy="109728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200400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Fleet size &amp; sequence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(number of trucks expected)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4041648"/>
            <a:ext cx="278892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4151376"/>
            <a:ext cx="109728" cy="109728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09651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Optional: existing pile map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from prior dump cycle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2468880"/>
            <a:ext cx="73152" cy="274320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2359152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D11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55264" y="1005840"/>
            <a:ext cx="2788920" cy="329184"/>
          </a:xfrm>
          <a:prstGeom prst="rect">
            <a:avLst/>
          </a:prstGeom>
          <a:solidFill>
            <a:srgbClr val="B85000"/>
          </a:solidFill>
          <a:ln w="12700">
            <a:solidFill>
              <a:srgbClr val="B85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55264" y="1005840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FFFF"/>
                </a:solidFill>
              </a:rPr>
              <a:t>ALGORITHM ENGINE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55264" y="1353312"/>
            <a:ext cx="278892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1463040"/>
            <a:ext cx="109728" cy="109728"/>
          </a:xfrm>
          <a:prstGeom prst="ellipse">
            <a:avLst/>
          </a:prstGeom>
          <a:solidFill>
            <a:srgbClr val="B85000"/>
          </a:solidFill>
          <a:ln w="12700">
            <a:solidFill>
              <a:srgbClr val="B85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1408176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Polygon inset buffer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(turning radius clearance)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55264" y="2249424"/>
            <a:ext cx="278892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2359152"/>
            <a:ext cx="109728" cy="109728"/>
          </a:xfrm>
          <a:prstGeom prst="ellipse">
            <a:avLst/>
          </a:prstGeom>
          <a:solidFill>
            <a:srgbClr val="B85000"/>
          </a:solidFill>
          <a:ln w="12700">
            <a:solidFill>
              <a:srgbClr val="B85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2304288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Hexagonal close-pack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grid generation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55264" y="3145536"/>
            <a:ext cx="278892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0" y="3255264"/>
            <a:ext cx="109728" cy="109728"/>
          </a:xfrm>
          <a:prstGeom prst="ellipse">
            <a:avLst/>
          </a:prstGeom>
          <a:solidFill>
            <a:srgbClr val="B85000"/>
          </a:solidFill>
          <a:ln w="12700">
            <a:solidFill>
              <a:srgbClr val="B85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3200400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Rotation optimisation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(0°–60° in 5° steps)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55264" y="4041648"/>
            <a:ext cx="278892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0" y="4151376"/>
            <a:ext cx="109728" cy="109728"/>
          </a:xfrm>
          <a:prstGeom prst="ellipse">
            <a:avLst/>
          </a:prstGeom>
          <a:solidFill>
            <a:srgbClr val="B85000"/>
          </a:solidFill>
          <a:ln w="12700">
            <a:solidFill>
              <a:srgbClr val="B85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0" y="409651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Lane grouping &amp;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arrival sequencer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62472" y="2468880"/>
            <a:ext cx="73152" cy="274320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53328" y="2359152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D11"/>
                </a:solidFill>
              </a:rPr>
              <a:t>▶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63056" y="1005840"/>
            <a:ext cx="2788920" cy="32918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63056" y="1005840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FFFF"/>
                </a:solidFill>
              </a:rPr>
              <a:t>OUTPUT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63056" y="1353312"/>
            <a:ext cx="278892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91072" y="1463040"/>
            <a:ext cx="109728" cy="10972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73952" y="1408176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Ordered spot-point map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(x,y coordinates per spot)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63056" y="2249424"/>
            <a:ext cx="278892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91072" y="2359152"/>
            <a:ext cx="109728" cy="10972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2304288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Lane-by-lane truck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arrival sequence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63056" y="3145536"/>
            <a:ext cx="278892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91072" y="3255264"/>
            <a:ext cx="109728" cy="10972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3200400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Density report vs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current baseline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63056" y="4041648"/>
            <a:ext cx="278892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91072" y="4151376"/>
            <a:ext cx="109728" cy="10972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3952" y="409651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Exportable to CAT Command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for Hauling API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7472" y="4773168"/>
            <a:ext cx="8595360" cy="27432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CD11"/>
                </a:solidFill>
              </a:rPr>
              <a:t>Core Function:  Given any irregular polygon + truck spec  →  output the densest possible valid spot-point plan, automatically.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32104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02 / 07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5E5C7A-0423-BC5F-EEC2-7F18CAA49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02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00"/>
          </a:solidFill>
          <a:ln w="12700">
            <a:solidFill>
              <a:srgbClr val="B85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4864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CD11"/>
                </a:solidFill>
              </a:rPr>
              <a:t>03  TECHNICAL &amp; MANUFACTURING FEASIBILITY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402336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Grounded Readiness Assessment — No Overclaiming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00"/>
                </a:solidFill>
              </a:rPr>
              <a:t>Technology Readiness by Component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5029200" cy="530352"/>
          </a:xfrm>
          <a:prstGeom prst="rect">
            <a:avLst/>
          </a:prstGeom>
          <a:solidFill>
            <a:srgbClr val="F4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11111"/>
                </a:solidFill>
              </a:rPr>
              <a:t>Polygon packing algorithm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Mature field. Used in PCB routing, robotics, logistics.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017520" y="1417320"/>
            <a:ext cx="438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C38"/>
                </a:solidFill>
              </a:rPr>
              <a:t>TRL 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0" y="1554480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0168" y="1554480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85616" y="1554480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1064" y="1554480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96512" y="1554480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1554480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07408" y="1554480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554480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18304" y="1554480"/>
            <a:ext cx="128016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938528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9842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11111"/>
                </a:solidFill>
              </a:rPr>
              <a:t>Truck turning-radius model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11480" y="22128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Already deployed in CAT Command for Hauling today.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17520" y="1984248"/>
            <a:ext cx="438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C38"/>
                </a:solidFill>
              </a:rPr>
              <a:t>TRL 9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0" y="2121408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30168" y="2121408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85616" y="2121408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41064" y="2121408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96512" y="2121408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51960" y="2121408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07408" y="2121408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62856" y="2121408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18304" y="2121408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505456"/>
            <a:ext cx="5029200" cy="530352"/>
          </a:xfrm>
          <a:prstGeom prst="rect">
            <a:avLst/>
          </a:prstGeom>
          <a:solidFill>
            <a:srgbClr val="F4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5511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11111"/>
                </a:solidFill>
              </a:rPr>
              <a:t>Convex decomposition (Shapely)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11480" y="27797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Open-source, battle-tested computational geometry library.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017520" y="2551176"/>
            <a:ext cx="438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C38"/>
                </a:solidFill>
              </a:rPr>
              <a:t>TRL 8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74720" y="2688336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30168" y="2688336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85616" y="2688336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41064" y="2688336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96512" y="2688336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51960" y="2688336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07408" y="2688336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62856" y="2688336"/>
            <a:ext cx="128016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18304" y="2688336"/>
            <a:ext cx="128016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3072384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11810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11111"/>
                </a:solidFill>
              </a:rPr>
              <a:t>Lane greedy scheduler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411480" y="33467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Proven in warehouse AGVs; mine-specific tuning required.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017520" y="3118104"/>
            <a:ext cx="438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5000"/>
                </a:solidFill>
              </a:rPr>
              <a:t>TRL 6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474720" y="3255264"/>
            <a:ext cx="128016" cy="182880"/>
          </a:xfrm>
          <a:prstGeom prst="rect">
            <a:avLst/>
          </a:prstGeom>
          <a:solidFill>
            <a:srgbClr val="B8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30168" y="3255264"/>
            <a:ext cx="128016" cy="182880"/>
          </a:xfrm>
          <a:prstGeom prst="rect">
            <a:avLst/>
          </a:prstGeom>
          <a:solidFill>
            <a:srgbClr val="B8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85616" y="3255264"/>
            <a:ext cx="128016" cy="182880"/>
          </a:xfrm>
          <a:prstGeom prst="rect">
            <a:avLst/>
          </a:prstGeom>
          <a:solidFill>
            <a:srgbClr val="B8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941064" y="3255264"/>
            <a:ext cx="128016" cy="182880"/>
          </a:xfrm>
          <a:prstGeom prst="rect">
            <a:avLst/>
          </a:prstGeom>
          <a:solidFill>
            <a:srgbClr val="B8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96512" y="3255264"/>
            <a:ext cx="128016" cy="182880"/>
          </a:xfrm>
          <a:prstGeom prst="rect">
            <a:avLst/>
          </a:prstGeom>
          <a:solidFill>
            <a:srgbClr val="B8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51960" y="3255264"/>
            <a:ext cx="128016" cy="182880"/>
          </a:xfrm>
          <a:prstGeom prst="rect">
            <a:avLst/>
          </a:prstGeom>
          <a:solidFill>
            <a:srgbClr val="B8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07408" y="3255264"/>
            <a:ext cx="128016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62856" y="3255264"/>
            <a:ext cx="128016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18304" y="3255264"/>
            <a:ext cx="128016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4320" y="3639312"/>
            <a:ext cx="5029200" cy="530352"/>
          </a:xfrm>
          <a:prstGeom prst="rect">
            <a:avLst/>
          </a:prstGeom>
          <a:solidFill>
            <a:srgbClr val="F4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36850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11111"/>
                </a:solidFill>
              </a:rPr>
              <a:t>Semantic pile segmentation</a:t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411480" y="39136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Achievable with LiDAR+camera; needs mine training data.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017520" y="3685032"/>
            <a:ext cx="438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5000"/>
                </a:solidFill>
              </a:rPr>
              <a:t>TRL 4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474720" y="3822192"/>
            <a:ext cx="128016" cy="182880"/>
          </a:xfrm>
          <a:prstGeom prst="rect">
            <a:avLst/>
          </a:prstGeom>
          <a:solidFill>
            <a:srgbClr val="B8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630168" y="3822192"/>
            <a:ext cx="128016" cy="182880"/>
          </a:xfrm>
          <a:prstGeom prst="rect">
            <a:avLst/>
          </a:prstGeom>
          <a:solidFill>
            <a:srgbClr val="B8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785616" y="3822192"/>
            <a:ext cx="128016" cy="182880"/>
          </a:xfrm>
          <a:prstGeom prst="rect">
            <a:avLst/>
          </a:prstGeom>
          <a:solidFill>
            <a:srgbClr val="B8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941064" y="3822192"/>
            <a:ext cx="128016" cy="182880"/>
          </a:xfrm>
          <a:prstGeom prst="rect">
            <a:avLst/>
          </a:prstGeom>
          <a:solidFill>
            <a:srgbClr val="B8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096512" y="3822192"/>
            <a:ext cx="128016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51960" y="3822192"/>
            <a:ext cx="128016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407408" y="3822192"/>
            <a:ext cx="128016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62856" y="3822192"/>
            <a:ext cx="128016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18304" y="3822192"/>
            <a:ext cx="128016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" y="4206240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11480" y="4251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11111"/>
                </a:solidFill>
              </a:rPr>
              <a:t>Multi-truck dynamic replanning</a:t>
            </a:r>
            <a:endParaRPr lang="en-US" sz="980" dirty="0"/>
          </a:p>
        </p:txBody>
      </p:sp>
      <p:sp>
        <p:nvSpPr>
          <p:cNvPr id="74" name="Text 72"/>
          <p:cNvSpPr/>
          <p:nvPr/>
        </p:nvSpPr>
        <p:spPr>
          <a:xfrm>
            <a:off x="411480" y="44805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Research stage — complex distributed systems problem.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017520" y="4251960"/>
            <a:ext cx="438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1A"/>
                </a:solidFill>
              </a:rPr>
              <a:t>TRL 3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474720" y="4389120"/>
            <a:ext cx="128016" cy="182880"/>
          </a:xfrm>
          <a:prstGeom prst="rect">
            <a:avLst/>
          </a:prstGeom>
          <a:solidFill>
            <a:srgbClr val="8B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30168" y="4389120"/>
            <a:ext cx="128016" cy="182880"/>
          </a:xfrm>
          <a:prstGeom prst="rect">
            <a:avLst/>
          </a:prstGeom>
          <a:solidFill>
            <a:srgbClr val="8B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785616" y="4389120"/>
            <a:ext cx="128016" cy="182880"/>
          </a:xfrm>
          <a:prstGeom prst="rect">
            <a:avLst/>
          </a:prstGeom>
          <a:solidFill>
            <a:srgbClr val="8B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941064" y="4389120"/>
            <a:ext cx="128016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096512" y="4389120"/>
            <a:ext cx="128016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251960" y="4389120"/>
            <a:ext cx="128016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407408" y="4389120"/>
            <a:ext cx="128016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562856" y="4389120"/>
            <a:ext cx="128016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18304" y="4389120"/>
            <a:ext cx="128016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577840" y="1005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00"/>
                </a:solidFill>
              </a:rPr>
              <a:t>Manufacturing &amp; Deployment Feasibility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5577840" y="1371600"/>
            <a:ext cx="3383280" cy="640080"/>
          </a:xfrm>
          <a:prstGeom prst="rect">
            <a:avLst/>
          </a:prstGeom>
          <a:solidFill>
            <a:srgbClr val="F4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623560" y="1444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C38"/>
                </a:solidFill>
              </a:rPr>
              <a:t>✔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5925312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Hardware Required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772400" y="1408176"/>
            <a:ext cx="1097280" cy="23774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772400" y="140817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None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5925312" y="1645920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Phase 1 is pure software. No sensor additions, no truck retrofits, no on-board compute changes needed.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577840" y="2066544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623560" y="2139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C38"/>
                </a:solidFill>
              </a:rPr>
              <a:t>✔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5925312" y="21122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Integration Point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772400" y="2103120"/>
            <a:ext cx="1097280" cy="23774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772400" y="21031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API Only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5925312" y="2340864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Integrates at the Fleet Management System level via existing CAT Command API. No firmware changes on trucks.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5577840" y="2761488"/>
            <a:ext cx="3383280" cy="640080"/>
          </a:xfrm>
          <a:prstGeom prst="rect">
            <a:avLst/>
          </a:prstGeom>
          <a:solidFill>
            <a:srgbClr val="F4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62356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C38"/>
                </a:solidFill>
              </a:rPr>
              <a:t>✔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5925312" y="2807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Deployment Model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7772400" y="2798064"/>
            <a:ext cx="1097280" cy="23774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772400" y="279806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Cloud or Edge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5925312" y="3035808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Algorithm runs in &lt;100ms per polygon. Can run on cloud infra or on-site edge server — no real-time truck connection needed.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5577840" y="3456432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623560" y="3529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C38"/>
                </a:solidFill>
              </a:rPr>
              <a:t>✔</a:t>
            </a:r>
            <a:endParaRPr lang="en-US" sz="1200" dirty="0"/>
          </a:p>
        </p:txBody>
      </p:sp>
      <p:sp>
        <p:nvSpPr>
          <p:cNvPr id="106" name="Text 104"/>
          <p:cNvSpPr/>
          <p:nvPr/>
        </p:nvSpPr>
        <p:spPr>
          <a:xfrm>
            <a:off x="5925312" y="35021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Rollback Risk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7772400" y="3493008"/>
            <a:ext cx="1097280" cy="23774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772400" y="349300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Zero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5925312" y="3730752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If the algorithm produces a suboptimal plan, operators fall back to the current system with no consequence. No single point of failure.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5577840" y="4151376"/>
            <a:ext cx="3383280" cy="640080"/>
          </a:xfrm>
          <a:prstGeom prst="rect">
            <a:avLst/>
          </a:prstGeom>
          <a:solidFill>
            <a:srgbClr val="F4F4F4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23560" y="4224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5000"/>
                </a:solidFill>
              </a:rPr>
              <a:t>⚠</a:t>
            </a:r>
            <a:endParaRPr lang="en-US" sz="1200" dirty="0"/>
          </a:p>
        </p:txBody>
      </p:sp>
      <p:sp>
        <p:nvSpPr>
          <p:cNvPr id="112" name="Text 110"/>
          <p:cNvSpPr/>
          <p:nvPr/>
        </p:nvSpPr>
        <p:spPr>
          <a:xfrm>
            <a:off x="5925312" y="41970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GPS Dependency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7772400" y="4187952"/>
            <a:ext cx="1097280" cy="237744"/>
          </a:xfrm>
          <a:prstGeom prst="rect">
            <a:avLst/>
          </a:prstGeom>
          <a:solidFill>
            <a:srgbClr val="B85000"/>
          </a:solidFill>
          <a:ln w="12700">
            <a:solidFill>
              <a:srgbClr val="B850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772400" y="41879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±0.5m needed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5925312" y="4425696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Trucks currently achieve ±0.5m. Algorithm designed for this tolerance. No upgrade required for Phase 1.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832104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04 / 07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486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CD11"/>
                </a:solidFill>
              </a:rPr>
              <a:t>04  INNOVATION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402336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Genuinely New — And What We're Honestly Building 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8595360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CD11"/>
                </a:solidFill>
              </a:rPr>
              <a:t>We are not inventing new geometry. We are the first to systematically apply it to the autonomous mine dump packing problem.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1444752"/>
            <a:ext cx="4069080" cy="31089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44752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PRIOR ART  (What Existed)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773936"/>
            <a:ext cx="4069080" cy="71323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1965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DD9999"/>
                </a:solidFill>
              </a:rPr>
              <a:t>✗  Fixed pre-defined spot grids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75488" y="20482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88888"/>
                </a:solidFill>
              </a:rPr>
              <a:t>Industry standard — CAT, Komatsu, Wenco all use this approach today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47472" y="2542032"/>
            <a:ext cx="4069080" cy="713232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5877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DD9999"/>
                </a:solidFill>
              </a:rPr>
              <a:t>✗  Staggered row patterns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75488" y="28163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88888"/>
                </a:solidFill>
              </a:rPr>
              <a:t>Known concept — used in fruit orchard planting, not applied to dump packing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47472" y="3310128"/>
            <a:ext cx="4069080" cy="71323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3558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DD9999"/>
                </a:solidFill>
              </a:rPr>
              <a:t>✗  Polygon-aware path planning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75488" y="35844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88888"/>
                </a:solidFill>
              </a:rPr>
              <a:t>Exists in robotics (coverage path planning) — never applied to mine dumps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47472" y="4078224"/>
            <a:ext cx="4069080" cy="713232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1239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DD9999"/>
                </a:solidFill>
              </a:rPr>
              <a:t>✗  Truck turning radius as constraint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75488" y="435254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88888"/>
                </a:solidFill>
              </a:rPr>
              <a:t>Encoded in truck navigation systems — not in spot-point generation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727448" y="1444752"/>
            <a:ext cx="4160520" cy="31089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1444752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OUR CONTRIBUTION  (What's New)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27448" y="1773936"/>
            <a:ext cx="4160520" cy="71323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8196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A8D8A8"/>
                </a:solidFill>
              </a:rPr>
              <a:t>✓  Polygon-fitted hex packing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4846320" y="204825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88888"/>
                </a:solidFill>
              </a:rPr>
              <a:t>Fitting the hexagonal grid to the exact dump polygon boundary — not a standard grid overlay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727448" y="2542032"/>
            <a:ext cx="4160520" cy="713232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5877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A8D8A8"/>
                </a:solidFill>
              </a:rPr>
              <a:t>✓  Rotation optimisation per polygon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846320" y="28163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88888"/>
                </a:solidFill>
              </a:rPr>
              <a:t>Testing 12 orientations and selecting best fit — specific to irregular mine dump geometry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727448" y="3310128"/>
            <a:ext cx="4160520" cy="71323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35584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A8D8A8"/>
                </a:solidFill>
              </a:rPr>
              <a:t>✓  Turning radius as inset, not rule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846320" y="3584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88888"/>
                </a:solidFill>
              </a:rPr>
              <a:t>Encoding the constraint geometrically so trucks never need to execute a correction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727448" y="4078224"/>
            <a:ext cx="4160520" cy="713232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1239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A8D8A8"/>
                </a:solidFill>
              </a:rPr>
              <a:t>✓  Phase 1 scoping honesty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846320" y="43525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88888"/>
                </a:solidFill>
              </a:rPr>
              <a:t>Acknowledging single-fleet limitation while providing a deployable, measurable MVP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832104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05 / 07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486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CD11"/>
                </a:solidFill>
              </a:rPr>
              <a:t>05  USABILITY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402336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Designed for Real Mine Operations — Zero New Training Required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2816352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Mine Planner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35024"/>
            <a:ext cx="2816352" cy="201168"/>
          </a:xfrm>
          <a:prstGeom prst="rect">
            <a:avLst/>
          </a:prstGeom>
          <a:solidFill>
            <a:srgbClr val="FFEEEE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35024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1A1A"/>
                </a:solidFill>
              </a:rPr>
              <a:t>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28163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72768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Manually selects spot points on a map, adjusts for shape, reruns for each fleet change — 30–60 min per dump plan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542032"/>
            <a:ext cx="2816352" cy="201168"/>
          </a:xfrm>
          <a:prstGeom prst="rect">
            <a:avLst/>
          </a:prstGeom>
          <a:solidFill>
            <a:srgbClr val="EEFFEE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42032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C38"/>
                </a:solidFill>
              </a:rPr>
              <a:t>AFTER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28163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779776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Inputs polygon boundary + truck type → receives spot-point plan in seconds. Overrides any point manually.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18688" y="987552"/>
            <a:ext cx="2816352" cy="329184"/>
          </a:xfrm>
          <a:prstGeom prst="rect">
            <a:avLst/>
          </a:prstGeom>
          <a:solidFill>
            <a:srgbClr val="B85000"/>
          </a:solidFill>
          <a:ln w="12700">
            <a:solidFill>
              <a:srgbClr val="B85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8688" y="987552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Truck Operator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(Autonomous System)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18688" y="1335024"/>
            <a:ext cx="2816352" cy="201168"/>
          </a:xfrm>
          <a:prstGeom prst="rect">
            <a:avLst/>
          </a:prstGeom>
          <a:solidFill>
            <a:srgbClr val="FFEEEE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1335024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1A1A"/>
                </a:solidFill>
              </a:rPr>
              <a:t>BEFORE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18688" y="1536192"/>
            <a:ext cx="28163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1572768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Follows pre-planned lane to fixed spot. If spot is poorly placed, truck respots — adding idle time and widening gaps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18688" y="2542032"/>
            <a:ext cx="2816352" cy="201168"/>
          </a:xfrm>
          <a:prstGeom prst="rect">
            <a:avLst/>
          </a:prstGeom>
          <a:solidFill>
            <a:srgbClr val="EEFFEE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18688" y="2542032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C38"/>
                </a:solidFill>
              </a:rPr>
              <a:t>AFTER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18688" y="2743200"/>
            <a:ext cx="28163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28416" y="2779776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Follows dynamically assigned lane and spot. Spots are geometrically guaranteed to be reachable without reversal.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987552"/>
            <a:ext cx="2816352" cy="32918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987552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Site Supervisor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63056" y="1335024"/>
            <a:ext cx="2816352" cy="201168"/>
          </a:xfrm>
          <a:prstGeom prst="rect">
            <a:avLst/>
          </a:prstGeom>
          <a:solidFill>
            <a:srgbClr val="FFEEEE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1335024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1A1A"/>
                </a:solidFill>
              </a:rPr>
              <a:t>BEFORE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63056" y="1536192"/>
            <a:ext cx="28163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1572768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Monitors dump density visually — no tool gives real-time packing efficiency vs target. Relies on dozer operator to reshape.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63056" y="2542032"/>
            <a:ext cx="2816352" cy="201168"/>
          </a:xfrm>
          <a:prstGeom prst="rect">
            <a:avLst/>
          </a:prstGeom>
          <a:solidFill>
            <a:srgbClr val="EEFFEE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63056" y="2542032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C38"/>
                </a:solidFill>
              </a:rPr>
              <a:t>AFTER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63056" y="2743200"/>
            <a:ext cx="28163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2779776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Receives density report per dump (spot count vs theoretical max). Can compare actual vs planned in real time.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803904"/>
            <a:ext cx="2103120" cy="1115568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803904"/>
            <a:ext cx="2103120" cy="54864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877056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CD11"/>
                </a:solidFill>
              </a:rPr>
              <a:t>No new UI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84048" y="415137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Integrates into existing CAT Command dashboard — no separate application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87168" y="3803904"/>
            <a:ext cx="2103120" cy="1115568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87168" y="3803904"/>
            <a:ext cx="2103120" cy="54864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96896" y="3877056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CD11"/>
                </a:solidFill>
              </a:rPr>
              <a:t>Overrideable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596896" y="415137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Planner can manually adjust any spot point — system re-validates and resequences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0016" y="3803904"/>
            <a:ext cx="2103120" cy="1115568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0016" y="3803904"/>
            <a:ext cx="2103120" cy="54864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3877056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CD11"/>
                </a:solidFill>
              </a:rPr>
              <a:t>Fail-safe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09744" y="415137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If algorithm fails, falls back to current grid plan with zero disruption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12864" y="3803904"/>
            <a:ext cx="2103120" cy="1115568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12864" y="3803904"/>
            <a:ext cx="2103120" cy="54864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22592" y="3877056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CD11"/>
                </a:solidFill>
              </a:rPr>
              <a:t>Explainable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022592" y="415137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Every spot point has a reason — boundary inset, grid row, lane assignment all logged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32104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06 / 07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4864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CD11"/>
                </a:solidFill>
              </a:rPr>
              <a:t> EVALUATION SCORECARD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402336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We Perform on Every Judging Metric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4251960" cy="11887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05840"/>
            <a:ext cx="4251960" cy="548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789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D2137"/>
                </a:solidFill>
              </a:rPr>
              <a:t>01  Functionality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547872" y="107899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CD11"/>
                </a:solidFill>
              </a:rPr>
              <a:t>★ ★ ★ ★ ★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1280160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Complete input → algorithm → output pipeline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1554480"/>
            <a:ext cx="73152" cy="73152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527048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Takes polygon + truck spec, outputs ordered spot-point map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75488" y="1700784"/>
            <a:ext cx="73152" cy="73152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673352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Lane grouping and arrival sequencer included in Phase 1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75488" y="1847088"/>
            <a:ext cx="73152" cy="73152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819656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Density report generated per dump — measurable KPI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75488" y="1993392"/>
            <a:ext cx="73152" cy="73152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1965960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Optional pile-awareness filter as modular add-on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251960" cy="11887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005840"/>
            <a:ext cx="4251960" cy="54864"/>
          </a:xfrm>
          <a:prstGeom prst="rect">
            <a:avLst/>
          </a:prstGeom>
          <a:solidFill>
            <a:srgbClr val="B85000"/>
          </a:solidFill>
          <a:ln w="12700">
            <a:solidFill>
              <a:srgbClr val="B85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2896" y="10789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85000"/>
                </a:solidFill>
              </a:rPr>
              <a:t>02  Design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955280" y="107899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CD11"/>
                </a:solidFill>
              </a:rPr>
              <a:t>★ ★ ★ ★ ★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82896" y="1280160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Layered, modular, defensible architecture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82896" y="1554480"/>
            <a:ext cx="73152" cy="73152"/>
          </a:xfrm>
          <a:prstGeom prst="ellipse">
            <a:avLst/>
          </a:prstGeom>
          <a:solidFill>
            <a:srgbClr val="B85000"/>
          </a:solidFill>
          <a:ln w="12700">
            <a:solidFill>
              <a:srgbClr val="B85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1527048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4-layer system: API → Algorithm → Safety filter → Output formatter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882896" y="1700784"/>
            <a:ext cx="73152" cy="73152"/>
          </a:xfrm>
          <a:prstGeom prst="ellipse">
            <a:avLst/>
          </a:prstGeom>
          <a:solidFill>
            <a:srgbClr val="B85000"/>
          </a:solidFill>
          <a:ln w="12700">
            <a:solidFill>
              <a:srgbClr val="B85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1673352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Hex packing choice is mathematically optimal — not a heuristic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4882896" y="1847088"/>
            <a:ext cx="73152" cy="73152"/>
          </a:xfrm>
          <a:prstGeom prst="ellipse">
            <a:avLst/>
          </a:prstGeom>
          <a:solidFill>
            <a:srgbClr val="B85000"/>
          </a:solidFill>
          <a:ln w="12700">
            <a:solidFill>
              <a:srgbClr val="B85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1819656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Rotation optimisation is deterministic O(n·k) — no black box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4882896" y="1993392"/>
            <a:ext cx="73152" cy="73152"/>
          </a:xfrm>
          <a:prstGeom prst="ellipse">
            <a:avLst/>
          </a:prstGeom>
          <a:solidFill>
            <a:srgbClr val="B85000"/>
          </a:solidFill>
          <a:ln w="12700">
            <a:solidFill>
              <a:srgbClr val="B85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1768" y="1965960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Stateless per-dump design — zero cascading failure risk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347472" y="2267712"/>
            <a:ext cx="4251960" cy="11887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2267712"/>
            <a:ext cx="4251960" cy="54864"/>
          </a:xfrm>
          <a:prstGeom prst="rect">
            <a:avLst/>
          </a:prstGeom>
          <a:solidFill>
            <a:srgbClr val="7A5800"/>
          </a:solidFill>
          <a:ln w="12700">
            <a:solidFill>
              <a:srgbClr val="7A5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23408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5800"/>
                </a:solidFill>
              </a:rPr>
              <a:t>03  Tech &amp; Mfg Feasibility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547872" y="2340864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CD11"/>
                </a:solidFill>
              </a:rPr>
              <a:t>★ ★ ★ ★ ★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" y="2542032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TRL 8–9 for core components, zero hardware needed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" y="2816352"/>
            <a:ext cx="73152" cy="73152"/>
          </a:xfrm>
          <a:prstGeom prst="ellipse">
            <a:avLst/>
          </a:prstGeom>
          <a:solidFill>
            <a:srgbClr val="7A5800"/>
          </a:solidFill>
          <a:ln w="12700">
            <a:solidFill>
              <a:srgbClr val="7A58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2788920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Polygon packing &amp; truck radius model already at TRL 8–9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475488" y="2962656"/>
            <a:ext cx="73152" cy="73152"/>
          </a:xfrm>
          <a:prstGeom prst="ellipse">
            <a:avLst/>
          </a:prstGeom>
          <a:solidFill>
            <a:srgbClr val="7A5800"/>
          </a:solidFill>
          <a:ln w="12700">
            <a:solidFill>
              <a:srgbClr val="7A58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2935224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Phase 1: pure software — no sensor retrofits, no firmware changes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475488" y="3108960"/>
            <a:ext cx="73152" cy="73152"/>
          </a:xfrm>
          <a:prstGeom prst="ellipse">
            <a:avLst/>
          </a:prstGeom>
          <a:solidFill>
            <a:srgbClr val="7A5800"/>
          </a:solidFill>
          <a:ln w="12700">
            <a:solidFill>
              <a:srgbClr val="7A58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3081528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Deploys via existing CAT Command API — no new infrastructure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475488" y="3255264"/>
            <a:ext cx="73152" cy="73152"/>
          </a:xfrm>
          <a:prstGeom prst="ellipse">
            <a:avLst/>
          </a:prstGeom>
          <a:solidFill>
            <a:srgbClr val="7A5800"/>
          </a:solidFill>
          <a:ln w="12700">
            <a:solidFill>
              <a:srgbClr val="7A58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3227832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Honest: multi-truck dynamic replanning is TRL 3 (Phase 2 scope)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4754880" y="2267712"/>
            <a:ext cx="4251960" cy="11887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2267712"/>
            <a:ext cx="4251960" cy="5486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82896" y="23408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A5C38"/>
                </a:solidFill>
              </a:rPr>
              <a:t>04  Innovation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955280" y="2340864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CD11"/>
                </a:solidFill>
              </a:rPr>
              <a:t>★ ★ ★ ★ ★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82896" y="2542032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Novel application of proven geometry to unsolved problem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82896" y="2816352"/>
            <a:ext cx="73152" cy="73152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01768" y="2788920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First systematic use of polygon-fitted hex packing in mine dumps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4882896" y="2962656"/>
            <a:ext cx="73152" cy="73152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01768" y="2935224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Rotation optimisation per polygon is new and patentable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4882896" y="3108960"/>
            <a:ext cx="73152" cy="73152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01768" y="3081528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Geometric inset buffer encodes turning radius — industry first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4882896" y="3255264"/>
            <a:ext cx="73152" cy="73152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01768" y="3227832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Honest novelty claim: applying existing math, not inventing new math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347472" y="3529584"/>
            <a:ext cx="4251960" cy="11887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7472" y="3529584"/>
            <a:ext cx="4251960" cy="54864"/>
          </a:xfrm>
          <a:prstGeom prst="rect">
            <a:avLst/>
          </a:prstGeom>
          <a:solidFill>
            <a:srgbClr val="4A0070"/>
          </a:solidFill>
          <a:ln w="12700">
            <a:solidFill>
              <a:srgbClr val="4A007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" y="360273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A0070"/>
                </a:solidFill>
              </a:rPr>
              <a:t>05  Usability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547872" y="3602736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CD11"/>
                </a:solidFill>
              </a:rPr>
              <a:t>★ ★ ★ ★ ★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75488" y="3803904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Zero new training — integrates into existing workflow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75488" y="4078224"/>
            <a:ext cx="73152" cy="73152"/>
          </a:xfrm>
          <a:prstGeom prst="ellipse">
            <a:avLst/>
          </a:prstGeom>
          <a:solidFill>
            <a:srgbClr val="4A0070"/>
          </a:solidFill>
          <a:ln w="12700">
            <a:solidFill>
              <a:srgbClr val="4A007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" y="4050792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No new UI — lives inside CAT Command dashboard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475488" y="4224528"/>
            <a:ext cx="73152" cy="73152"/>
          </a:xfrm>
          <a:prstGeom prst="ellipse">
            <a:avLst/>
          </a:prstGeom>
          <a:solidFill>
            <a:srgbClr val="4A0070"/>
          </a:solidFill>
          <a:ln w="12700">
            <a:solidFill>
              <a:srgbClr val="4A007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4360" y="4197096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Every spot point manually overrideable by planner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475488" y="4370832"/>
            <a:ext cx="73152" cy="73152"/>
          </a:xfrm>
          <a:prstGeom prst="ellipse">
            <a:avLst/>
          </a:prstGeom>
          <a:solidFill>
            <a:srgbClr val="4A0070"/>
          </a:solidFill>
          <a:ln w="12700">
            <a:solidFill>
              <a:srgbClr val="4A007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4360" y="4343400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Fail-safe: falls back to current grid plan if algo fails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475488" y="4517136"/>
            <a:ext cx="73152" cy="73152"/>
          </a:xfrm>
          <a:prstGeom prst="ellipse">
            <a:avLst/>
          </a:prstGeom>
          <a:solidFill>
            <a:srgbClr val="4A0070"/>
          </a:solidFill>
          <a:ln w="12700">
            <a:solidFill>
              <a:srgbClr val="4A007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4360" y="4489704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All decisions logged &amp; explainable — no black-box outputs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4754880" y="3529584"/>
            <a:ext cx="4251960" cy="11887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54880" y="3529584"/>
            <a:ext cx="4251960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82896" y="360273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B1A1A"/>
                </a:solidFill>
              </a:rPr>
              <a:t>06  Presentation Quality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955280" y="3602736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CD11"/>
                </a:solidFill>
              </a:rPr>
              <a:t>★ ★ ★ ★ ★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882896" y="3803904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Technically grounded, honest, no false promises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882896" y="4078224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01768" y="4050792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Every claim backed by measurement or mathematical proof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4882896" y="4224528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01768" y="4197096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Phase scoping explicit — we show what we can &amp; cannot do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4882896" y="4370832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01768" y="4343400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Real data throughout: 7.38m / 3.03m from CAT's own doc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4882896" y="4517136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01768" y="4489704"/>
            <a:ext cx="3886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BBBB"/>
                </a:solidFill>
              </a:rPr>
              <a:t>TRL ratings are conservative and industry-standard</a:t>
            </a:r>
            <a:endParaRPr lang="en-US" sz="780" dirty="0"/>
          </a:p>
        </p:txBody>
      </p:sp>
      <p:sp>
        <p:nvSpPr>
          <p:cNvPr id="84" name="Shape 82"/>
          <p:cNvSpPr/>
          <p:nvPr/>
        </p:nvSpPr>
        <p:spPr>
          <a:xfrm>
            <a:off x="347472" y="4837176"/>
            <a:ext cx="8595360" cy="256032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47472" y="483717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</a:rPr>
              <a:t>Closing the Density Gap — Mathematically Provable  ·  Immediately Deployable  ·  Honestly Scoped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832104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07 / 07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1214</Words>
  <Application>Microsoft Office PowerPoint</Application>
  <PresentationFormat>On-screen Show (16:9)</PresentationFormat>
  <Paragraphs>188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 Dump Packing — Round 2</dc:title>
  <dc:subject>PptxGenJS Presentation</dc:subject>
  <dc:creator>PptxGenJS</dc:creator>
  <cp:lastModifiedBy>pranav putrevu</cp:lastModifiedBy>
  <cp:revision>3</cp:revision>
  <dcterms:created xsi:type="dcterms:W3CDTF">2026-04-16T10:09:14Z</dcterms:created>
  <dcterms:modified xsi:type="dcterms:W3CDTF">2026-05-05T03:45:38Z</dcterms:modified>
</cp:coreProperties>
</file>