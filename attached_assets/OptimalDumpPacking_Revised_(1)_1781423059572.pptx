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CD11"/>
                </a:solidFill>
              </a:rPr>
              <a:t>CATERPILLAR HACKATHON  ·  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92608" y="4572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Dump Packing is Broken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for Autonomous Mines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92608" y="202996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BBBBB"/>
                </a:solidFill>
              </a:rPr>
              <a:t>Autonomous trucks achieve less than half the packing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BBBBB"/>
                </a:solidFill>
              </a:rPr>
              <a:t>density of staffed operations — and current planning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BBBBB"/>
                </a:solidFill>
              </a:rPr>
              <a:t>tools make it worse, not better.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23560" y="347472"/>
            <a:ext cx="3337560" cy="4572000"/>
          </a:xfrm>
          <a:prstGeom prst="rect">
            <a:avLst/>
          </a:prstGeom>
          <a:solidFill>
            <a:srgbClr val="2C2C2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502920"/>
            <a:ext cx="3337560" cy="27432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594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D11"/>
                </a:solidFill>
              </a:rPr>
              <a:t>2-Step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60720" y="10698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planning process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3075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Fill spots → plan lanes. Both steps are manual.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23560" y="1581912"/>
            <a:ext cx="3337560" cy="27432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6733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D11"/>
                </a:solidFill>
              </a:rPr>
              <a:t>7.38m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6072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Autonomous dump spacing (observed)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23865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From satellite imagery of active autonomous mine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23560" y="2660904"/>
            <a:ext cx="3337560" cy="27432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75234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D11"/>
                </a:solidFill>
              </a:rPr>
              <a:t>3.03m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0720" y="3227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Staffed operation spacing (observed)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4655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From satellite imagery of staffed mine operations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23560" y="3739896"/>
            <a:ext cx="3337560" cy="27432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83133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D11"/>
                </a:solidFill>
              </a:rPr>
              <a:t>~2.4×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760720" y="4306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Density gap to close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45445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(7.38÷3.03)² ≈ area ratio — the real target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2608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CD11"/>
                </a:solidFill>
              </a:rPr>
              <a:t>Root Causes of the Density Gap: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" y="3310128"/>
            <a:ext cx="51206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</a:rPr>
              <a:t>Small trucks overshoot pre-defined spot points → low spots / depressions form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</a:rPr>
              <a:t>Irregular polygon edges always leave uncovered dead zones with fixed grid spots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</a:rPr>
              <a:t>Mixed fleets (different payload sizes) cannot share the same spot-point plan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</a:rPr>
              <a:t>Prior dump piles detected as obstacles → trucks stop short, widening gaps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DDDDD"/>
                </a:solidFill>
              </a:rPr>
              <a:t>No arrival-sequence guidance → trucks block each other, causing respot cycles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01 / 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D11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Adaptive Polygon Packing — Three Phases of Ambition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</a:rPr>
              <a:t>We propose a phased solution. Phase 1 is our hackathon deliverable — provably implementable. Phases 2 &amp; 3 are the roadmap.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444752"/>
            <a:ext cx="2834640" cy="3438144"/>
          </a:xfrm>
          <a:prstGeom prst="rect">
            <a:avLst/>
          </a:prstGeom>
          <a:solidFill>
            <a:srgbClr val="FFFDF0"/>
          </a:solidFill>
          <a:ln w="25400">
            <a:solidFill>
              <a:srgbClr val="FFC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444752"/>
            <a:ext cx="2834640" cy="246888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44475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A1A1A"/>
                </a:solidFill>
              </a:rPr>
              <a:t>PHASE 1  ·  HACKATHON MVP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38328" y="17190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800"/>
                </a:solidFill>
              </a:rPr>
              <a:t>Optimised Polygon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A5800"/>
                </a:solidFill>
              </a:rPr>
              <a:t>Spot-Point Packing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3317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444"/>
                </a:solidFill>
              </a:rPr>
              <a:t>A geometric algorithm replaces fixed pre-defined grids with a dynamically computed staggered/radial fill pattern fitted to the exact dump polygon boundary. Works for any irregular shape. Handles standard single-fleet trucks. Lanes may still be pre-planned to each generated spot.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38328" y="35844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5570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Solvable with classical computational geometry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38328" y="38130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No truck hardware changes required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38328" y="40416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0142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Simutable &amp; demonstrable today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38328" y="42702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42428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Directly closes the density gap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01168" y="4663440"/>
            <a:ext cx="2834640" cy="219456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46634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</a:rPr>
              <a:t>★  CORE PROPOSAL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72968" y="1444752"/>
            <a:ext cx="283464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1444752"/>
            <a:ext cx="2834640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144475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PHASE 2  ·  NEAR-TERM ROADMAP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10128" y="17190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Dynamic Lane-Free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Mixed-Fleet Planning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0128" y="23317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444"/>
                </a:solidFill>
              </a:rPr>
              <a:t>Static spot points are replaced with a real-time dump plan updated as trucks arrive. Each truck's payload is used to size its zone dynamically. Mixed fleets can share one dump without manual re-planning. Requires reliable V2X communication.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310128" y="35844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35570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Handles payload-variable fleets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310128" y="38130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3785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Eliminates manual re-planning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310128" y="4041648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65576" y="40142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1A1A"/>
                </a:solidFill>
              </a:rPr>
              <a:t>Requires V2X comms investment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310128" y="4270248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42428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1A1A"/>
                </a:solidFill>
              </a:rPr>
              <a:t>~18–24 months to field trial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172968" y="4663440"/>
            <a:ext cx="2834640" cy="21945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46634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FUTURE VISION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44768" y="1444752"/>
            <a:ext cx="283464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44768" y="1444752"/>
            <a:ext cx="2834640" cy="2468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144475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PHASE 3  ·  LONG-TERM VISION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81928" y="17190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Perception-Driven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Fully Autonomous Planning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81928" y="23317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44444"/>
                </a:solidFill>
              </a:rPr>
              <a:t>No pre-defined plan at all. Trucks use onboard LiDAR + semantic segmentation to detect existing piles, self-assign spot points, and coordinate via peer-to-peer messages. Maximum flexibility, highest engineering complexity.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281928" y="35844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35570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Zero infrastructure dependency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281928" y="3813048"/>
            <a:ext cx="91440" cy="9144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7376" y="3785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</a:rPr>
              <a:t>Works in GPS-denied areas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281928" y="4041648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40142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1A1A"/>
                </a:solidFill>
              </a:rPr>
              <a:t>Highest R&amp;D investment needed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281928" y="4270248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37376" y="42428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B1A1A"/>
                </a:solidFill>
              </a:rPr>
              <a:t>3–5 year horizon realistically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144768" y="4663440"/>
            <a:ext cx="2834640" cy="21945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46634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</a:rPr>
              <a:t>RESEARCH STAGE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32104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02 / 07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D11"/>
                </a:solidFill>
              </a:rPr>
              <a:t>PHASE 1 — 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Optimised Polygon Spot-Point Packing — Detailed Algorithm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429768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51560"/>
            <a:ext cx="73152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161288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161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143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Polygon Boundary Ingestion &amp; Validation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47218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The dump boundary is input as a geo-referenced polygon (GPS coordinates). The algorithm validates convexity, computes the minimum bounding rectangle, and identifies edge segments. Truck turning radius (e.g. CAT 793 = ~12m) defines a mandatory inset buffer — no spot point may be placed within this inset of the polygon edge.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01168" y="2377440"/>
            <a:ext cx="429768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377440"/>
            <a:ext cx="73152" cy="12344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" y="2487168"/>
            <a:ext cx="402336" cy="402336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487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468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Polygon Decomposition into Fill Zones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79806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For irregular (non-convex) polygons, the boundary is decomposed into convex sub-polygons using standard ear-clipping or Hertel-Mehlhorn decomposition. Each convex zone is filled independently. This is the key step that eliminates dead zones — every zone is fully coverable by a regular pattern.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01168" y="3703320"/>
            <a:ext cx="429768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703320"/>
            <a:ext cx="73152" cy="1234440"/>
          </a:xfrm>
          <a:prstGeom prst="rect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3813048"/>
            <a:ext cx="402336" cy="402336"/>
          </a:xfrm>
          <a:prstGeom prst="ellipse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813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" y="3794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800"/>
                </a:solidFill>
              </a:rPr>
              <a:t>Staggered Grid Generation &amp; Density Optimisation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412394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Within each convex zone, a staggered hexagonal close-packing grid is generated. Spot-point spacing equals truck body width + safety margin (configurable per truck class). The grid orientation is optimised by testing rotations in 5° increments and selecting the angle that maximises the count of valid (inset-respecting) spot points. This is a deterministic O(n) search.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818888" y="1051560"/>
            <a:ext cx="429768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1051560"/>
            <a:ext cx="73152" cy="1234440"/>
          </a:xfrm>
          <a:prstGeom prst="rect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161288"/>
            <a:ext cx="402336" cy="402336"/>
          </a:xfrm>
          <a:prstGeom prst="ellipse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161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58968" y="1143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2E0E"/>
                </a:solidFill>
              </a:rPr>
              <a:t>Lane Assignment &amp; Arrival Sequencing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58968" y="147218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Spot points are grouped into approach lanes based on the primary truck ingress direction. Within each lane, points are sequenced nose-to-tail to prevent trucks crossing paths. A simple greedy scheduler assigns arriving trucks to the next available spot in the nearest lane. Deadlock is prevented by enforcing one-truck-per-lane-segment at a time — no complex coordination required.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818888" y="2377440"/>
            <a:ext cx="4297680" cy="12344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2377440"/>
            <a:ext cx="73152" cy="1234440"/>
          </a:xfrm>
          <a:prstGeom prst="rect">
            <a:avLst/>
          </a:prstGeom>
          <a:solidFill>
            <a:srgbClr val="4A0070"/>
          </a:solidFill>
          <a:ln w="12700">
            <a:solidFill>
              <a:srgbClr val="4A0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2487168"/>
            <a:ext cx="402336" cy="402336"/>
          </a:xfrm>
          <a:prstGeom prst="ellipse">
            <a:avLst/>
          </a:prstGeom>
          <a:solidFill>
            <a:srgbClr val="4A0070"/>
          </a:solidFill>
          <a:ln w="12700">
            <a:solidFill>
              <a:srgbClr val="4A0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487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58968" y="2468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0070"/>
                </a:solidFill>
              </a:rPr>
              <a:t>Pile Proximity Check (Optional Enhancement)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58968" y="2798064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If truck perception data is available, generated spot points are filtered against a live pile map. Any spot point whose centre falls within 1.5× pile radius of an existing pile is shifted to the nearest valid position or removed. This is an optional add-on — the core algorithm works without it, making it independently deployable.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32104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03 / 07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D11"/>
                </a:solidFill>
              </a:rPr>
              <a:t>NOVELTY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What's Actually New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" y="11155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We are not inventing new geometry — we are applying it in a context where it has never been systematically used.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17830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572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D11"/>
                </a:solidFill>
              </a:rPr>
              <a:t>Dimension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57400" y="1572768"/>
            <a:ext cx="214884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D11"/>
                </a:solidFill>
              </a:rPr>
              <a:t>Today's Approach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9392" y="1572768"/>
            <a:ext cx="214884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D11"/>
                </a:solidFill>
              </a:rPr>
              <a:t>Our Phase 1 Approach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01384" y="1572768"/>
            <a:ext cx="256032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2824" y="15727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D11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1892808"/>
            <a:ext cx="178308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92938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CD11"/>
                </a:solidFill>
              </a:rPr>
              <a:t>Polygon coverage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057400" y="1892808"/>
            <a:ext cx="214884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92938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9999"/>
                </a:solidFill>
              </a:rPr>
              <a:t>Fixed rectangular grid — irregular edges always missed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279392" y="1892808"/>
            <a:ext cx="214884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192938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</a:rPr>
              <a:t>Convex decomposition + per-zone fill — 100% coverage guaranteed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501384" y="1892808"/>
            <a:ext cx="256032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1929384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CCCCC"/>
                </a:solidFill>
              </a:rPr>
              <a:t>Eliminates dead zones that require dozer reshaping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01168" y="2496312"/>
            <a:ext cx="178308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32888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CD11"/>
                </a:solidFill>
              </a:rPr>
              <a:t>Pattern geometry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057400" y="2496312"/>
            <a:ext cx="214884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25328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9999"/>
                </a:solidFill>
              </a:rPr>
              <a:t>Staggered rows manually tuned by operator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279392" y="2496312"/>
            <a:ext cx="214884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70832" y="25328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</a:rPr>
              <a:t>Hexagonal close-pack auto-computed — provably maximum 2D density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501384" y="2496312"/>
            <a:ext cx="256032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2532888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CCCCC"/>
                </a:solidFill>
              </a:rPr>
              <a:t>~9% denser than square grid — directly measurable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01168" y="3099816"/>
            <a:ext cx="178308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136392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CD11"/>
                </a:solidFill>
              </a:rPr>
              <a:t>Shape adaptability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057400" y="3099816"/>
            <a:ext cx="214884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313639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9999"/>
                </a:solidFill>
              </a:rPr>
              <a:t>Same spot-point template reused regardless of dump shape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279392" y="3099816"/>
            <a:ext cx="214884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13639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</a:rPr>
              <a:t>Grid orientation optimised per polygon — rotated to best fit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501384" y="3099816"/>
            <a:ext cx="256032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2824" y="3136392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CCCCC"/>
                </a:solidFill>
              </a:rPr>
              <a:t>No wasted boundary space for irregular paddocks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01168" y="3703320"/>
            <a:ext cx="178308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73989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CD11"/>
                </a:solidFill>
              </a:rPr>
              <a:t>Truck radius aware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2057400" y="3703320"/>
            <a:ext cx="214884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373989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9999"/>
                </a:solidFill>
              </a:rPr>
              <a:t>Turning radius not encoded in spot point placement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279392" y="3703320"/>
            <a:ext cx="214884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70832" y="373989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</a:rPr>
              <a:t>Mandatory inset buffer = truck turning radius, hard-coded per model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501384" y="3703320"/>
            <a:ext cx="2560320" cy="58521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92824" y="3739896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CCCCC"/>
                </a:solidFill>
              </a:rPr>
              <a:t>Trucks never need to reverse or respot near edges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01168" y="4306824"/>
            <a:ext cx="178308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34340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CD11"/>
                </a:solidFill>
              </a:rPr>
              <a:t>Fleet handling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2057400" y="4306824"/>
            <a:ext cx="214884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48840" y="43434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D9999"/>
                </a:solidFill>
              </a:rPr>
              <a:t>Single truck class assumed; mixed fleets break the plan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4279392" y="4306824"/>
            <a:ext cx="214884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70832" y="43434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8A8"/>
                </a:solidFill>
              </a:rPr>
              <a:t>Phase 1: single class (honest limitation); Phase 2 extends this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6501384" y="4306824"/>
            <a:ext cx="2560320" cy="585216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92824" y="4343400"/>
            <a:ext cx="2423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CCCCC"/>
                </a:solidFill>
              </a:rPr>
              <a:t>Honest scoping — we don't over-claim Phase 1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832104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04 / 07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D11"/>
                </a:solidFill>
              </a:rPr>
              <a:t>SCALABILITY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Scales Easily, What Requires Work, and What Has Limits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2834640" cy="34747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Scales Well 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417320"/>
            <a:ext cx="2834640" cy="868680"/>
          </a:xfrm>
          <a:prstGeom prst="rect">
            <a:avLst/>
          </a:prstGeom>
          <a:solidFill>
            <a:srgbClr val="EA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4721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8"/>
                </a:solidFill>
              </a:rPr>
              <a:t>Dump polygon size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" y="17099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Algorithm complexity is O(n·k) in polygon vertices and spot count — runs in milliseconds even for 100-point polygons.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01168" y="23317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3865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8"/>
                </a:solidFill>
              </a:rPr>
              <a:t>Number of sequential trucks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" y="26243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The lane sequencer adds one assignment per truck arrival. No combinatorial explosion. Works for 2 to 500+ trucks over a dump's lifetime.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01168" y="3246120"/>
            <a:ext cx="2834640" cy="868680"/>
          </a:xfrm>
          <a:prstGeom prst="rect">
            <a:avLst/>
          </a:prstGeom>
          <a:solidFill>
            <a:srgbClr val="EA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33009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8"/>
                </a:solidFill>
              </a:rPr>
              <a:t>Different dump shapes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0896" y="35387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Convex decomposition handles any simple polygon. Works for rectangular pads, L-shapes, wedges, and fan-shaped paddocks equally.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01168" y="41605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42153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8"/>
                </a:solidFill>
              </a:rPr>
              <a:t>Simulation &amp; testing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" y="44531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Algorithm is entirely deterministic — unit-testable, reproducible, and simulatable offline before any field deployment.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172968" y="1051560"/>
            <a:ext cx="2834640" cy="347472"/>
          </a:xfrm>
          <a:prstGeom prst="rect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Scales With Investment 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72968" y="1417320"/>
            <a:ext cx="2834640" cy="868680"/>
          </a:xfrm>
          <a:prstGeom prst="rect">
            <a:avLst/>
          </a:prstGeom>
          <a:solidFill>
            <a:srgbClr val="FFF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14721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800"/>
                </a:solidFill>
              </a:rPr>
              <a:t>Multiple concurrent trucks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17099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Greedy lane scheduler works for 2–4 trucks with simple exclusion zones. Beyond that, a proper multi-agent scheduler is needed.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172968" y="23317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23865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800"/>
                </a:solidFill>
              </a:rPr>
              <a:t>Mixed payload fleets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82696" y="26243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Requires dynamic zone resizing per payload class. Needs payload telemetry from each truck. Phase 2 scope.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172968" y="3246120"/>
            <a:ext cx="2834640" cy="868680"/>
          </a:xfrm>
          <a:prstGeom prst="rect">
            <a:avLst/>
          </a:prstGeom>
          <a:solidFill>
            <a:srgbClr val="FFF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33009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800"/>
                </a:solidFill>
              </a:rPr>
              <a:t>Site-to-site deployment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82696" y="35387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Algorithm is portable, but integration with each site's fleet management system requires separate API work per site.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172968" y="41605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42153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800"/>
                </a:solidFill>
              </a:rPr>
              <a:t>Pile detection integration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82696" y="44531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Works modularly, but requires semantic segmentation model training per mine's soil type and LiDAR configuration.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144768" y="1051560"/>
            <a:ext cx="283464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Honest Limitations 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44768" y="1417320"/>
            <a:ext cx="28346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14721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</a:rPr>
              <a:t>3D dump surface topology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54496" y="17099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Phase 1 treats the dump as a flat 2D polygon. Actual dumps develop uneven surfaces — spot points may shift on sloped areas.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144768" y="23317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3865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</a:rPr>
              <a:t>Real-time dynamic replanning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54496" y="26243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Phase 1 generates a static plan before the dump starts. Dynamic mid-dump replanning requires Phase 2 architecture.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144768" y="3246120"/>
            <a:ext cx="28346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3009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</a:rPr>
              <a:t>Non-contiguous dump zones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54496" y="35387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If trucks deposit material creating internal obstacles mid-dump, Phase 1 cannot re-route around them dynamically.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144768" y="4160520"/>
            <a:ext cx="2834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42153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1A"/>
                </a:solidFill>
              </a:rPr>
              <a:t>GPS-denied environments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54496" y="44531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</a:rPr>
              <a:t>Algorithm assumes accurate truck positioning. Poor GPS in deep cuts or under canopy reduces spot-point accuracy.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832104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05 / 07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D11"/>
                </a:solidFill>
              </a:rPr>
              <a:t>FEASIBILITY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Honest Technology Readiness &amp; Realistic Deployment Timeline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" y="1051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0E"/>
                </a:solidFill>
              </a:rPr>
              <a:t>Technology Readiness by Component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417320"/>
            <a:ext cx="475488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Polygon packing algorithm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Mature — used in PCB layout, robotics path planning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0" y="1463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2E0E"/>
                </a:solidFill>
              </a:rPr>
              <a:t>TRL 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01568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4176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86784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33088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9392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5696" y="1591056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91056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1984248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029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Truck turning radius 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258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Already in CAT Command for Hauling platform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26080" y="2029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2E0E"/>
                </a:solidFill>
              </a:rPr>
              <a:t>TRL 9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01568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7872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86784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33088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9392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25696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157984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2551176"/>
            <a:ext cx="475488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5968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Convex decomposition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Standard computational geometry — open source libs exist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26080" y="259689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2E0E"/>
                </a:solidFill>
              </a:rPr>
              <a:t>TRL 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01568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47872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94176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0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86784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33088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79392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25696" y="2724912"/>
            <a:ext cx="118872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2724912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3118104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16382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Lane greedy scheduler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0040" y="33924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Proven concept in AGV systems; mine-specific tuning needed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26080" y="31638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2E0E"/>
                </a:solidFill>
              </a:rPr>
              <a:t>TRL 6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01568" y="3291840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47872" y="3291840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94176" y="3291840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0480" y="3291840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86784" y="3291840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33088" y="3291840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79392" y="3291840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25696" y="3291840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3291840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1168" y="3685032"/>
            <a:ext cx="475488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730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Semantic pile segmentation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0040" y="3959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Achievable with LiDAR+camera; needs mine-specific training data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926080" y="37307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2E0E"/>
                </a:solidFill>
              </a:rPr>
              <a:t>TRL 4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01568" y="3858768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47872" y="3858768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94176" y="3858768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840480" y="3858768"/>
            <a:ext cx="118872" cy="182880"/>
          </a:xfrm>
          <a:prstGeom prst="rect">
            <a:avLst/>
          </a:prstGeom>
          <a:solidFill>
            <a:srgbClr val="7A5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86784" y="3858768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33088" y="3858768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79392" y="3858768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25696" y="3858768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0" y="3858768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1168" y="4251960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297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Multi-truck dynamic replanning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20040" y="45262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Research stage — complex distributed systems problem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926080" y="4297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2E0E"/>
                </a:solidFill>
              </a:rPr>
              <a:t>TRL 3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401568" y="4425696"/>
            <a:ext cx="118872" cy="182880"/>
          </a:xfrm>
          <a:prstGeom prst="rect">
            <a:avLst/>
          </a:prstGeom>
          <a:solidFill>
            <a:srgbClr val="7A2E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47872" y="4425696"/>
            <a:ext cx="118872" cy="182880"/>
          </a:xfrm>
          <a:prstGeom prst="rect">
            <a:avLst/>
          </a:prstGeom>
          <a:solidFill>
            <a:srgbClr val="7A2E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94176" y="4425696"/>
            <a:ext cx="118872" cy="182880"/>
          </a:xfrm>
          <a:prstGeom prst="rect">
            <a:avLst/>
          </a:prstGeom>
          <a:solidFill>
            <a:srgbClr val="7A2E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40480" y="4425696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986784" y="4425696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33088" y="4425696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79392" y="4425696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425696" y="4425696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0" y="4425696"/>
            <a:ext cx="118872" cy="182880"/>
          </a:xfrm>
          <a:prstGeom prst="rect">
            <a:avLst/>
          </a:prstGeom>
          <a:solidFill>
            <a:srgbClr val="DDDD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1208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0E"/>
                </a:solidFill>
              </a:rPr>
              <a:t>Realistic Deployment Roadmap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212080" y="1417320"/>
            <a:ext cx="109728" cy="64008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94960" y="143560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Months 0–3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394960" y="16367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2E0E"/>
                </a:solidFill>
              </a:rPr>
              <a:t>Algorithm Development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394960" y="1874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Build &amp; validate packing algorithm in simulation. Input: polygon + truck spec. Output: spot-point map. Measurable KPI: density vs grid baseline.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212080" y="2130552"/>
            <a:ext cx="109728" cy="64008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94960" y="214884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Months 3–6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394960" y="2350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2E0E"/>
                </a:solidFill>
              </a:rPr>
              <a:t>Single-Truck Field Validation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5394960" y="2587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Deploy on one CAT 793 at a test site. Compare observed spacing vs algorithm predictions. Calibrate inset buffer for real-world GPS noise.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212080" y="2843784"/>
            <a:ext cx="109728" cy="640080"/>
          </a:xfrm>
          <a:prstGeom prst="rect">
            <a:avLst/>
          </a:prstGeom>
          <a:solidFill>
            <a:srgbClr val="E0700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94960" y="28620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Months 6–18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394960" y="3063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2E0E"/>
                </a:solidFill>
              </a:rPr>
              <a:t>Multi-Truck Pilot (2–4 trucks)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394960" y="33009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Extend lane scheduler to handle concurrent trucks. Field trial at partner mine. Target: match staffed density ±15%. Regulatory safety review.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5212080" y="3557016"/>
            <a:ext cx="109728" cy="640080"/>
          </a:xfrm>
          <a:prstGeom prst="rect">
            <a:avLst/>
          </a:prstGeom>
          <a:solidFill>
            <a:srgbClr val="7A2E0E"/>
          </a:solidFill>
          <a:ln w="12700">
            <a:solidFill>
              <a:srgbClr val="7A2E0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394960" y="35753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Months 18–36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394960" y="3776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2E0E"/>
                </a:solidFill>
              </a:rPr>
              <a:t>Production Integration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5394960" y="40142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Full integration with CAT Command for Hauling API. Rollout to 5–10 mine sites. Continuous improvement loop using telemetry feedback.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212080" y="4270248"/>
            <a:ext cx="109728" cy="64008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394960" y="428853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Year 3–5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5394960" y="44897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</a:rPr>
              <a:t>Phase 2: Mixed Fleet (Separate scope)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394960" y="4727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Only begin after Phase 1 production data validates core algorithm. Requires V2X comms investment and payload telemetry on all trucks.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32104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06 / 07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CD11"/>
                </a:solidFill>
              </a:rPr>
              <a:t>BUSINESS PROSPECTS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" y="4572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Commercial Case — Grounded in Real Numbers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2103120" cy="1188720"/>
          </a:xfrm>
          <a:prstGeom prst="rect">
            <a:avLst/>
          </a:prstGeom>
          <a:solidFill>
            <a:srgbClr val="2C2C2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D11"/>
                </a:solidFill>
              </a:rPr>
              <a:t>7.38m → 3.03m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Target spacing reduction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(observed data, same mine site)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14016" y="1143000"/>
            <a:ext cx="2103120" cy="1188720"/>
          </a:xfrm>
          <a:prstGeom prst="rect">
            <a:avLst/>
          </a:prstGeom>
          <a:solidFill>
            <a:srgbClr val="2C2C2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D11"/>
                </a:solidFill>
              </a:rPr>
              <a:t>~$6B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14016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Autonomous mining equipment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market by 2030 (Allied Market Rsrch)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26864" y="1143000"/>
            <a:ext cx="2103120" cy="1188720"/>
          </a:xfrm>
          <a:prstGeom prst="rect">
            <a:avLst/>
          </a:prstGeom>
          <a:solidFill>
            <a:srgbClr val="2C2C2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D11"/>
                </a:solidFill>
              </a:rPr>
              <a:t>100+ sites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Active autonomous mines globally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(CAT Command deployed)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39712" y="1143000"/>
            <a:ext cx="2103120" cy="1188720"/>
          </a:xfrm>
          <a:prstGeom prst="rect">
            <a:avLst/>
          </a:prstGeom>
          <a:solidFill>
            <a:srgbClr val="2C2C2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D11"/>
                </a:solidFill>
              </a:rPr>
              <a:t>$0 HW cost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39712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Phase 1 is pure software —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no sensor upgrades needed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" y="2423160"/>
            <a:ext cx="283464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 Caterpillar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2761488"/>
            <a:ext cx="283464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79806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Revenue stream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" y="299923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New software licensing module for Command for Hauling — deployable to existing customer base with no hardware change.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01168" y="3328416"/>
            <a:ext cx="283464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33649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Competitive moat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" y="35661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Density algorithm is patentable. Rivals (Komatsu AHS, Wenco) use fixed spot-point approaches today.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01168" y="3895344"/>
            <a:ext cx="283464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393192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Data flywheel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" y="413308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Each mine deployment generates real spacing vs telemetry data — improves algorithm over time across fleet.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201168" y="4462272"/>
            <a:ext cx="283464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4498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Upsell path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0896" y="47000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Phase 1 validates the platform for Phase 2 V2X comms and Phase 3 perception upgrades — larger ticket items.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172968" y="2423160"/>
            <a:ext cx="2834640" cy="3200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 Mine Operators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72968" y="2761488"/>
            <a:ext cx="283464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82696" y="279806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Smaller dump footprint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82696" y="299923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Higher packing density → same tonnage in less area → reduced land rehabilitation liability at mine closure.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172968" y="3328416"/>
            <a:ext cx="283464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82696" y="33649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Fewer dozer passes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82696" y="35661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Current autonomous dumps need dozer reshaping to fix low spots. Dense packing eliminates most of this.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172968" y="3895344"/>
            <a:ext cx="283464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2696" y="393192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Extended dump life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82696" y="413308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Denser packing means more tonnes per acre → dump reaches capacity later → defers CAPEX on new dump construction.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3172968" y="4462272"/>
            <a:ext cx="283464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82696" y="4498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D11"/>
                </a:solidFill>
              </a:rPr>
              <a:t>Fuel &amp; idle savings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82696" y="47000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Precise spot-point guidance reduces truck respot cycles — each respot costs ~3–5 minutes of idle fuel burn.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6144768" y="2423160"/>
            <a:ext cx="283464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Risks to Acknowledge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44768" y="2761488"/>
            <a:ext cx="283464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279806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GPS accuracy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54496" y="299923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Algorithm assumes ±0.3m positioning. Current autonomous trucks typically achieve ±0.5m — calibration needed.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6144768" y="3328416"/>
            <a:ext cx="283464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33649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Safety certification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54496" y="356616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Any change to truck path planning requires OHS/site safety review — adds 6–12 months before field deployment.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6144768" y="3895344"/>
            <a:ext cx="2834640" cy="54864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4496" y="393192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Operator buy-in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54496" y="413308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Mine site operators are conservative. Proving density gain in simulation before field trial is critical for adoption.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6144768" y="4462272"/>
            <a:ext cx="2834640" cy="54864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54496" y="449884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</a:rPr>
              <a:t>Competitive response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54496" y="47000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BBBBBB"/>
                </a:solidFill>
              </a:rPr>
              <a:t>Komatsu and others will observe any CAT deployment — first-mover window is 12–18 months before parity.</a:t>
            </a:r>
            <a:endParaRPr lang="en-US" sz="830" dirty="0"/>
          </a:p>
        </p:txBody>
      </p:sp>
      <p:sp>
        <p:nvSpPr>
          <p:cNvPr id="59" name="Text 57"/>
          <p:cNvSpPr/>
          <p:nvPr/>
        </p:nvSpPr>
        <p:spPr>
          <a:xfrm>
            <a:off x="832104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07 / 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Dump Packing – Caterpillar Hackathon</dc:title>
  <dc:subject>PptxGenJS Presentation</dc:subject>
  <dc:creator>PptxGenJS</dc:creator>
  <cp:lastModifiedBy>PptxGenJS</cp:lastModifiedBy>
  <cp:revision>1</cp:revision>
  <dcterms:created xsi:type="dcterms:W3CDTF">2026-03-23T07:54:44Z</dcterms:created>
  <dcterms:modified xsi:type="dcterms:W3CDTF">2026-03-23T07:54:44Z</dcterms:modified>
</cp:coreProperties>
</file>